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BC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ICT 종합설계  |  9차 발표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0A4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강화학습 기반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스마트 교차로 신호 제어 시스템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BC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1000 에피소드 완전 학습 달성 + 정량 성능 평가 + 프로젝트 구조 정리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3774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RL-based Adaptive Traffic Signal Control System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3017520"/>
            <a:ext cx="1783080" cy="1005840"/>
          </a:xfrm>
          <a:prstGeom prst="rect">
            <a:avLst/>
          </a:prstGeom>
          <a:solidFill>
            <a:srgbClr val="1A2D40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31089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1000ep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77240" y="35661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완전 학습 수렴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606040" y="3017520"/>
            <a:ext cx="1783080" cy="1005840"/>
          </a:xfrm>
          <a:prstGeom prst="rect">
            <a:avLst/>
          </a:prstGeom>
          <a:solidFill>
            <a:srgbClr val="1A2D40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0" y="31089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+98.9%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743200" y="35661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Avg Waiting 감소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0" y="3017520"/>
            <a:ext cx="1783080" cy="1005840"/>
          </a:xfrm>
          <a:prstGeom prst="rect">
            <a:avLst/>
          </a:prstGeom>
          <a:solidFill>
            <a:srgbClr val="1A2D40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31089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30ep × 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709160" y="35661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통계적 평가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537960" y="3017520"/>
            <a:ext cx="1783080" cy="1005840"/>
          </a:xfrm>
          <a:prstGeom prst="rect">
            <a:avLst/>
          </a:prstGeom>
          <a:solidFill>
            <a:srgbClr val="1A2D40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75120" y="31089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Module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675120" y="35661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구조 재정리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4297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과목   ICT 종합설계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" y="4572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구성   2인 팀 프로젝트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0" y="4434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발표자  전형주, 이진욱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201168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8차 → 9차  변경점 요약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62179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1주간 진행한 핵심 업데이트 4가지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955280" y="2286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09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1005840"/>
            <a:ext cx="8503920" cy="13716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234440"/>
            <a:ext cx="4023360" cy="1645920"/>
          </a:xfrm>
          <a:prstGeom prst="rect">
            <a:avLst/>
          </a:prstGeom>
          <a:solidFill>
            <a:srgbClr val="1A2D40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234440"/>
            <a:ext cx="73152" cy="164592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325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에피소드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169164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46E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405 ep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240280" y="169164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514600" y="169164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1000 ep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22402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BC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ε≈0.131 → ε≈0.05 완전수렴 도달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480560" y="1234440"/>
            <a:ext cx="4023360" cy="1645920"/>
          </a:xfrm>
          <a:prstGeom prst="rect">
            <a:avLst/>
          </a:prstGeom>
          <a:solidFill>
            <a:srgbClr val="1A2D40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80560" y="1234440"/>
            <a:ext cx="73152" cy="164592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1325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평가 방식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09160" y="169164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46E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ep 단순 비교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0" y="169164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675120" y="169164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 ep 통계 평가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709160" y="22402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BC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평균 ± 표준편차 산출, 통계적 유의성 확보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20040" y="3017520"/>
            <a:ext cx="4023360" cy="1645920"/>
          </a:xfrm>
          <a:prstGeom prst="rect">
            <a:avLst/>
          </a:prstGeom>
          <a:solidFill>
            <a:srgbClr val="1A2D40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" y="3017520"/>
            <a:ext cx="73152" cy="164592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3108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비교 지표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" y="347472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46E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Total Reward 1개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240280" y="347472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2514600" y="347472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4개 메트릭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48640" y="40233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BC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Reward · Wait · Queue Avg · Queue Max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480560" y="3017520"/>
            <a:ext cx="4023360" cy="1645920"/>
          </a:xfrm>
          <a:prstGeom prst="rect">
            <a:avLst/>
          </a:prstGeom>
          <a:solidFill>
            <a:srgbClr val="1A2D40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480560" y="3017520"/>
            <a:ext cx="73152" cy="164592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09160" y="3108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단계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709160" y="347472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46E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탐색 진행 중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400800" y="347472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6675120" y="347472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활용(Exploit) 단계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709160" y="40233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BC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ε_min=0.05 도달, 95% 학습된 정책 사용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1A2D40"/>
          </a:solidFill>
          <a:ln w="12700">
            <a:solidFill>
              <a:srgbClr val="1A2D40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201168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DQN Reward 수렴 분석  —  1000 에피소드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62179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탐색→활용 전환 완료, 최종 평균 Reward -7.5 안정화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955280" y="2286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09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1005840"/>
            <a:ext cx="8503920" cy="13716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pic>
        <p:nvPicPr>
          <p:cNvPr id="8" name="Image 0" descr="../results/reward_convergence_10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234440"/>
            <a:ext cx="5760720" cy="36118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263640" y="12344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단계별 평균 Reward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263640" y="1645920"/>
            <a:ext cx="228600" cy="228600"/>
          </a:xfrm>
          <a:prstGeom prst="ellipse">
            <a:avLst/>
          </a:prstGeom>
          <a:solidFill>
            <a:srgbClr val="FF525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83680" y="1600200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583680" y="176479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ep 1~50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7589520" y="16002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-27.1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263640" y="2148840"/>
            <a:ext cx="228600" cy="228600"/>
          </a:xfrm>
          <a:prstGeom prst="ellipse">
            <a:avLst/>
          </a:prstGeom>
          <a:solidFill>
            <a:srgbClr val="FFA72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583680" y="2103120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 200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583680" y="226771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탐색 진행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7589520" y="21031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-15.5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6263640" y="2651760"/>
            <a:ext cx="228600" cy="228600"/>
          </a:xfrm>
          <a:prstGeom prst="ellipse">
            <a:avLst/>
          </a:prstGeom>
          <a:solidFill>
            <a:srgbClr val="FFEE5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583680" y="2606040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 500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583680" y="277063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수렴 시작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7589520" y="26060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-8.7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6263640" y="3154680"/>
            <a:ext cx="228600" cy="228600"/>
          </a:xfrm>
          <a:prstGeom prst="ellipse">
            <a:avLst/>
          </a:prstGeom>
          <a:solidFill>
            <a:srgbClr val="69F0A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583680" y="3108960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6583680" y="327355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ep 950~1000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7589520" y="31089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-7.5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6263640" y="3840480"/>
            <a:ext cx="2560320" cy="1005840"/>
          </a:xfrm>
          <a:prstGeom prst="rect">
            <a:avLst/>
          </a:prstGeom>
          <a:solidFill>
            <a:srgbClr val="1A2D40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400800" y="39319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C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인사이트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6400800" y="416052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600 에피소드 이후 ε=0.05 수렴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마지막 50ep 평균 -7.5 (초기 -27.1 대비 +72.3%)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ep 850 부근 단발 노이즈 외 모두 안정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1A2D40"/>
          </a:solidFill>
          <a:ln w="12700">
            <a:solidFill>
              <a:srgbClr val="1A2D40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201168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 에피소드 정량 평가 결과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62179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Fixed Signal vs DQN (1000ep) · 60회 시뮬레이션 통계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955280" y="2286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09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1005840"/>
            <a:ext cx="8503920" cy="13716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280160"/>
            <a:ext cx="4023360" cy="1645920"/>
          </a:xfrm>
          <a:prstGeom prst="rect">
            <a:avLst/>
          </a:prstGeom>
          <a:solidFill>
            <a:srgbClr val="1A2D40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280160"/>
            <a:ext cx="73152" cy="164592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371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Total Reward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17373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19659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-185.00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920240" y="187452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286000" y="173736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 (1000ep)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86000" y="19202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-7.04</a:t>
            </a:r>
            <a:endParaRPr lang="en-US" sz="2800" dirty="0"/>
          </a:p>
        </p:txBody>
      </p:sp>
      <p:sp>
        <p:nvSpPr>
          <p:cNvPr id="16" name="Shape 14"/>
          <p:cNvSpPr/>
          <p:nvPr/>
        </p:nvSpPr>
        <p:spPr>
          <a:xfrm>
            <a:off x="548640" y="2468880"/>
            <a:ext cx="3566160" cy="329184"/>
          </a:xfrm>
          <a:prstGeom prst="rect">
            <a:avLst/>
          </a:prstGeom>
          <a:solidFill>
            <a:srgbClr val="0D1B2A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468880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  +96.2%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480560" y="1280160"/>
            <a:ext cx="4023360" cy="1645920"/>
          </a:xfrm>
          <a:prstGeom prst="rect">
            <a:avLst/>
          </a:prstGeom>
          <a:solidFill>
            <a:srgbClr val="1A2D40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480560" y="1280160"/>
            <a:ext cx="73152" cy="164592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09160" y="1371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Avg Waiting Time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09160" y="17373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09160" y="19659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3905.79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080760" y="187452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446520" y="173736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 (1000ep)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46520" y="19202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44.85</a:t>
            </a:r>
            <a:endParaRPr lang="en-US" sz="2800" dirty="0"/>
          </a:p>
        </p:txBody>
      </p:sp>
      <p:sp>
        <p:nvSpPr>
          <p:cNvPr id="26" name="Shape 24"/>
          <p:cNvSpPr/>
          <p:nvPr/>
        </p:nvSpPr>
        <p:spPr>
          <a:xfrm>
            <a:off x="4709160" y="2468880"/>
            <a:ext cx="3566160" cy="329184"/>
          </a:xfrm>
          <a:prstGeom prst="rect">
            <a:avLst/>
          </a:prstGeom>
          <a:solidFill>
            <a:srgbClr val="0D1B2A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09160" y="2468880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  +98.9%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20040" y="3063240"/>
            <a:ext cx="4023360" cy="1645920"/>
          </a:xfrm>
          <a:prstGeom prst="rect">
            <a:avLst/>
          </a:prstGeom>
          <a:solidFill>
            <a:srgbClr val="1A2D40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" y="3063240"/>
            <a:ext cx="73152" cy="164592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3154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Avg Queue Length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48640" y="35204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48640" y="37490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70.87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1920240" y="365760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2286000" y="35204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 (1000ep)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286000" y="37033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15.01</a:t>
            </a:r>
            <a:endParaRPr lang="en-US" sz="2800" dirty="0"/>
          </a:p>
        </p:txBody>
      </p:sp>
      <p:sp>
        <p:nvSpPr>
          <p:cNvPr id="36" name="Shape 34"/>
          <p:cNvSpPr/>
          <p:nvPr/>
        </p:nvSpPr>
        <p:spPr>
          <a:xfrm>
            <a:off x="548640" y="4251960"/>
            <a:ext cx="3566160" cy="329184"/>
          </a:xfrm>
          <a:prstGeom prst="rect">
            <a:avLst/>
          </a:prstGeom>
          <a:solidFill>
            <a:srgbClr val="0D1B2A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" y="4251960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  +78.8%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4480560" y="3063240"/>
            <a:ext cx="4023360" cy="1645920"/>
          </a:xfrm>
          <a:prstGeom prst="rect">
            <a:avLst/>
          </a:prstGeom>
          <a:solidFill>
            <a:srgbClr val="1A2D40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480560" y="3063240"/>
            <a:ext cx="73152" cy="164592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09160" y="3154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Max Queue Length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709160" y="35204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709160" y="37490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97.70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6080760" y="365760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6446520" y="35204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 (1000ep)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446520" y="37033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24.53</a:t>
            </a:r>
            <a:endParaRPr lang="en-US" sz="2800" dirty="0"/>
          </a:p>
        </p:txBody>
      </p:sp>
      <p:sp>
        <p:nvSpPr>
          <p:cNvPr id="46" name="Shape 44"/>
          <p:cNvSpPr/>
          <p:nvPr/>
        </p:nvSpPr>
        <p:spPr>
          <a:xfrm>
            <a:off x="4709160" y="4251960"/>
            <a:ext cx="3566160" cy="329184"/>
          </a:xfrm>
          <a:prstGeom prst="rect">
            <a:avLst/>
          </a:prstGeom>
          <a:solidFill>
            <a:srgbClr val="0D1B2A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09160" y="4251960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  +74.9%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1A2D40"/>
          </a:solidFill>
          <a:ln w="12700">
            <a:solidFill>
              <a:srgbClr val="1A2D40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201168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Fixed vs RL  —  4개 메트릭 시각화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62179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평균값 + 표준편차 오차막대로 통계적 신뢰성 표현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955280" y="2286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09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1005840"/>
            <a:ext cx="8503920" cy="13716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pic>
        <p:nvPicPr>
          <p:cNvPr id="8" name="Image 0" descr="../results/evaluation_chart_1000e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188720"/>
            <a:ext cx="5943600" cy="37490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446520" y="1280160"/>
            <a:ext cx="2377440" cy="1097280"/>
          </a:xfrm>
          <a:prstGeom prst="rect">
            <a:avLst/>
          </a:prstGeom>
          <a:solidFill>
            <a:srgbClr val="1A2D40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83680" y="135331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C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◆  통계적 신뢰성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583680" y="1664208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 에피소드 × 2모드 = 총 60회 시뮬레이션. 표준편차 &lt; 1.5%로 결과 일관됨.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446520" y="2523744"/>
            <a:ext cx="2377440" cy="1097280"/>
          </a:xfrm>
          <a:prstGeom prst="rect">
            <a:avLst/>
          </a:prstGeom>
          <a:solidFill>
            <a:srgbClr val="1A2D40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583680" y="259689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C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◆  대기시간 핵심 지표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583680" y="2907792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Avg Waiting 3906→45초 (98.9% 감소). 사용자 체감 효과 가장 큰 메트릭.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6446520" y="3767328"/>
            <a:ext cx="2377440" cy="1097280"/>
          </a:xfrm>
          <a:prstGeom prst="rect">
            <a:avLst/>
          </a:prstGeom>
          <a:solidFill>
            <a:srgbClr val="1A2D40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583680" y="38404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C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◆  Queue도 안정화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583680" y="4151376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Max Queue 98→25대로 감소. 피크 혼잡 상황에서도 정체 완화 효과 확인.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1A2D40"/>
          </a:solidFill>
          <a:ln w="12700">
            <a:solidFill>
              <a:srgbClr val="1A2D40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201168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 에피소드 전구간 일관성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62179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번의 우연이 아닌 모든 시뮬레이션에서 RL이 우수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955280" y="2286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09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1005840"/>
            <a:ext cx="8503920" cy="13716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pic>
        <p:nvPicPr>
          <p:cNvPr id="8" name="Image 0" descr="../results/distribution_30e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188720"/>
            <a:ext cx="6949440" cy="27432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406640" y="1188720"/>
            <a:ext cx="1417320" cy="2743200"/>
          </a:xfrm>
          <a:prstGeom prst="rect">
            <a:avLst/>
          </a:prstGeom>
          <a:solidFill>
            <a:srgbClr val="1A2D40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498080" y="12801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 Boxplot?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498080" y="1554480"/>
            <a:ext cx="12801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평균만으로는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분포의 안정성을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확인할 수 없음.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산점도+박스플롯으로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분산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이상치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일관성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동시 확인.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20040" y="4114800"/>
            <a:ext cx="8503920" cy="777240"/>
          </a:xfrm>
          <a:prstGeom prst="rect">
            <a:avLst/>
          </a:prstGeom>
          <a:solidFill>
            <a:srgbClr val="1A2D40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02920" y="4206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C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결론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60회 시뮬레이션 단 한 번도 Fixed가 RL을 따라잡지 못함.  </a:t>
            </a:r>
            <a:pPr indent="0" marL="0">
              <a:buNone/>
            </a:pPr>
            <a:r>
              <a:rPr lang="en-US" sz="13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≈ 178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(Reward),  </a:t>
            </a:r>
            <a:pPr indent="0" marL="0">
              <a:buNone/>
            </a:pPr>
            <a:r>
              <a:rPr lang="en-US" sz="13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Δwait ≈ 3861s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1A2D40"/>
          </a:solidFill>
          <a:ln w="12700">
            <a:solidFill>
              <a:srgbClr val="1A2D40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201168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구조 재정리  —  3 Module Architecture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62179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복잡해 보이던 구성요소를 3개 독립 모듈로 명확화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955280" y="2286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09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1005840"/>
            <a:ext cx="8503920" cy="13716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188720"/>
            <a:ext cx="2743200" cy="3200400"/>
          </a:xfrm>
          <a:prstGeom prst="rect">
            <a:avLst/>
          </a:prstGeom>
          <a:solidFill>
            <a:srgbClr val="1A2D40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188720"/>
            <a:ext cx="2743200" cy="59436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" y="1252728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84632" y="146304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신호 정책 학습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4632" y="1901952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Brain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4632" y="21488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SUMO  +  DQN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84632" y="2468880"/>
            <a:ext cx="2423160" cy="320040"/>
          </a:xfrm>
          <a:prstGeom prst="rect">
            <a:avLst/>
          </a:prstGeom>
          <a:solidFill>
            <a:srgbClr val="0D1B2A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" y="246888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897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완료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2880360"/>
            <a:ext cx="2423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Double DQN + Huber Loss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1000 ep 완전 학습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 ep 정량 평가 완료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Fixed 대비 +96~99%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27832" y="1188720"/>
            <a:ext cx="2743200" cy="3200400"/>
          </a:xfrm>
          <a:prstGeom prst="rect">
            <a:avLst/>
          </a:prstGeom>
          <a:solidFill>
            <a:srgbClr val="1A2D40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27832" y="1188720"/>
            <a:ext cx="2743200" cy="59436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92424" y="1252728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92424" y="146304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현실 차량 인식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392424" y="1901952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Eyes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392424" y="21488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YOLOv10  +  Camera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392424" y="2468880"/>
            <a:ext cx="2423160" cy="320040"/>
          </a:xfrm>
          <a:prstGeom prst="rect">
            <a:avLst/>
          </a:prstGeom>
          <a:solidFill>
            <a:srgbClr val="0D1B2A"/>
          </a:solidFill>
          <a:ln w="12700">
            <a:solidFill>
              <a:srgbClr val="FFA72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92424" y="246888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A7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◐ 한계 분석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410712" y="2880360"/>
            <a:ext cx="2423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주간 신호등 시점 13대 탐지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야간 CCTV 한계 식별 (8차)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다음: yolov10s/m 교체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다음: ROI 4분할 카운팅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135624" y="1188720"/>
            <a:ext cx="2743200" cy="3200400"/>
          </a:xfrm>
          <a:prstGeom prst="rect">
            <a:avLst/>
          </a:prstGeom>
          <a:solidFill>
            <a:srgbClr val="1A2D40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135624" y="1188720"/>
            <a:ext cx="2743200" cy="59436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00216" y="1252728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300216" y="146304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하드웨어 시연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300216" y="1901952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Body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300216" y="21488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RPi 5  +  LED  +  TraCI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300216" y="2468880"/>
            <a:ext cx="2423160" cy="320040"/>
          </a:xfrm>
          <a:prstGeom prst="rect">
            <a:avLst/>
          </a:prstGeom>
          <a:solidFill>
            <a:srgbClr val="0D1B2A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00216" y="246888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46E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진행 예정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318504" y="2880360"/>
            <a:ext cx="2423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라즈베리파이 5 도착 대기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TraCI → GPIO 변환 설계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4방향 LED 신호등 제작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미니어처 교차로 시연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20040" y="4526280"/>
            <a:ext cx="8503920" cy="384048"/>
          </a:xfrm>
          <a:prstGeom prst="rect">
            <a:avLst/>
          </a:prstGeom>
          <a:solidFill>
            <a:srgbClr val="1A2D40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" y="452628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C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최종 통합 흐름 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현실 카메라  →  YOLO 차량 수  →  DQN 신호 결정  →  LED 신호등 출력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1A2D40"/>
          </a:solidFill>
          <a:ln w="12700">
            <a:solidFill>
              <a:srgbClr val="1A2D40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201168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남은 작업 + 발표 로드맵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62179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Module 2/3 통합과 시연 준비로 마무리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955280" y="2286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09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1005840"/>
            <a:ext cx="8503920" cy="13716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188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C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주차별 발표 계획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1600200"/>
            <a:ext cx="777240" cy="64008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60020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10차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188720" y="1600200"/>
            <a:ext cx="3657600" cy="640080"/>
          </a:xfrm>
          <a:prstGeom prst="rect">
            <a:avLst/>
          </a:prstGeom>
          <a:solidFill>
            <a:srgbClr val="1A2D40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25880" y="165506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YOLOv10 모듈 고도화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325880" y="191109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A4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주간 신호등 시점 영상 + yolov10s 교체 + 방향별 ROI 4분할 카운팅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0040" y="2377440"/>
            <a:ext cx="777240" cy="64008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237744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11차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188720" y="2377440"/>
            <a:ext cx="3657600" cy="640080"/>
          </a:xfrm>
          <a:prstGeom prst="rect">
            <a:avLst/>
          </a:prstGeom>
          <a:solidFill>
            <a:srgbClr val="1A2D40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25880" y="243230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라즈베리파이 통신 설계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325880" y="268833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A4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TraCI → 시리얼/WiFi → GPIO. 4방향 LED 점등 프로토타입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20040" y="3154680"/>
            <a:ext cx="777240" cy="64008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315468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12차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1188720" y="3154680"/>
            <a:ext cx="3657600" cy="640080"/>
          </a:xfrm>
          <a:prstGeom prst="rect">
            <a:avLst/>
          </a:prstGeom>
          <a:solidFill>
            <a:srgbClr val="1A2D40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325880" y="320954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End-to-End 통합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325880" y="346557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A4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카메라 영상 → YOLO → DQN → LED 전체 파이프라인 연결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20040" y="3931920"/>
            <a:ext cx="777240" cy="64008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393192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최종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1188720" y="3931920"/>
            <a:ext cx="3657600" cy="640080"/>
          </a:xfrm>
          <a:prstGeom prst="rect">
            <a:avLst/>
          </a:prstGeom>
          <a:solidFill>
            <a:srgbClr val="1A2D40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325880" y="398678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미니어처 시연 + 보고서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325880" y="424281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A4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폼보드 교차로 + 실제 LED + SUMO 비교 영상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120640" y="11887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C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선택 작업 (시간 허용 시)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120640" y="1600200"/>
            <a:ext cx="3749040" cy="640080"/>
          </a:xfrm>
          <a:prstGeom prst="rect">
            <a:avLst/>
          </a:prstGeom>
          <a:solidFill>
            <a:srgbClr val="1A2D40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120640" y="1600200"/>
            <a:ext cx="50292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20640" y="160020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5715000" y="165506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v2 환경 (3차선 × 4-phase)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715000" y="1911096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A4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보호좌회전 포함. 환경 코드 완성, 학습만 12시간+ 소요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120640" y="2377440"/>
            <a:ext cx="3749040" cy="640080"/>
          </a:xfrm>
          <a:prstGeom prst="rect">
            <a:avLst/>
          </a:prstGeom>
          <a:solidFill>
            <a:srgbClr val="1A2D40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120640" y="2377440"/>
            <a:ext cx="50292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120640" y="237744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5715000" y="243230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긴급차량 우선신호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715000" y="2688336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A4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3차 발표에서 제안한 기능. 사운드센서 + 영상 이중 감지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5120640" y="3154680"/>
            <a:ext cx="3749040" cy="640080"/>
          </a:xfrm>
          <a:prstGeom prst="rect">
            <a:avLst/>
          </a:prstGeom>
          <a:solidFill>
            <a:srgbClr val="1A2D40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120640" y="3154680"/>
            <a:ext cx="50292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120640" y="315468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5715000" y="320954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Multi-Intersection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715000" y="3465576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A4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단일 교차로 → 2~3개 연동. MARL 적용 검토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320040" y="4709160"/>
            <a:ext cx="8503920" cy="292608"/>
          </a:xfrm>
          <a:prstGeom prst="rect">
            <a:avLst/>
          </a:prstGeom>
          <a:solidFill>
            <a:srgbClr val="1A2D40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02920" y="47091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C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Module 1(AI Brain) 완성  →  Module 2 + 3 통합으로 진입하는 시점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1A2D40"/>
          </a:solidFill>
          <a:ln w="12700">
            <a:solidFill>
              <a:srgbClr val="1A2D40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201168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최종 시연 컨셉  —  End-to-End 데모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62179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졸업 작품 발표일 기준 시연 시나리오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955280" y="2286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09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1005840"/>
            <a:ext cx="8503920" cy="13716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463040"/>
            <a:ext cx="1554480" cy="1463040"/>
          </a:xfrm>
          <a:prstGeom prst="rect">
            <a:avLst/>
          </a:prstGeom>
          <a:solidFill>
            <a:srgbClr val="1A2D40"/>
          </a:solidFill>
          <a:ln w="19050">
            <a:solidFill>
              <a:srgbClr val="00897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1463040"/>
            <a:ext cx="1554480" cy="27432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49047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1480" y="18288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📹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57200" y="23317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카메라 입력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26060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Camera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929384" y="2084832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103120" y="1463040"/>
            <a:ext cx="1554480" cy="1463040"/>
          </a:xfrm>
          <a:prstGeom prst="rect">
            <a:avLst/>
          </a:prstGeom>
          <a:solidFill>
            <a:srgbClr val="1A2D40"/>
          </a:solidFill>
          <a:ln w="19050">
            <a:solidFill>
              <a:srgbClr val="00897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103120" y="1463040"/>
            <a:ext cx="1554480" cy="27432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194560" y="149047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103120" y="18288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🔍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2148840" y="23317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YOLO 탐지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148840" y="26060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Detect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621024" y="2084832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794760" y="1463040"/>
            <a:ext cx="1554480" cy="1463040"/>
          </a:xfrm>
          <a:prstGeom prst="rect">
            <a:avLst/>
          </a:prstGeom>
          <a:solidFill>
            <a:srgbClr val="1A2D40"/>
          </a:solidFill>
          <a:ln w="19050">
            <a:solidFill>
              <a:srgbClr val="00897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94760" y="1463040"/>
            <a:ext cx="1554480" cy="27432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86200" y="149047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794760" y="18288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🔢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3840480" y="23317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방향별 집계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840480" y="26060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Count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312664" y="2084832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486400" y="1463040"/>
            <a:ext cx="1554480" cy="1463040"/>
          </a:xfrm>
          <a:prstGeom prst="rect">
            <a:avLst/>
          </a:prstGeom>
          <a:solidFill>
            <a:srgbClr val="1A2D40"/>
          </a:solidFill>
          <a:ln w="19050">
            <a:solidFill>
              <a:srgbClr val="00BCD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86400" y="1463040"/>
            <a:ext cx="1554480" cy="27432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77840" y="149047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486400" y="18288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🧠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5532120" y="23317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DQN 결정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532120" y="26060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Inference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004304" y="2084832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7178040" y="1463040"/>
            <a:ext cx="1554480" cy="1463040"/>
          </a:xfrm>
          <a:prstGeom prst="rect">
            <a:avLst/>
          </a:prstGeom>
          <a:solidFill>
            <a:srgbClr val="1A2D40"/>
          </a:solidFill>
          <a:ln w="19050">
            <a:solidFill>
              <a:srgbClr val="00BCD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178040" y="1463040"/>
            <a:ext cx="1554480" cy="27432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269480" y="149047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5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178040" y="18288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🚦</a:t>
            </a:r>
            <a:endParaRPr lang="en-US" sz="2600" dirty="0"/>
          </a:p>
        </p:txBody>
      </p:sp>
      <p:sp>
        <p:nvSpPr>
          <p:cNvPr id="40" name="Text 38"/>
          <p:cNvSpPr/>
          <p:nvPr/>
        </p:nvSpPr>
        <p:spPr>
          <a:xfrm>
            <a:off x="7223760" y="23317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LED 출력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7223760" y="26060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 Control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20040" y="3246120"/>
            <a:ext cx="4160520" cy="1463040"/>
          </a:xfrm>
          <a:prstGeom prst="rect">
            <a:avLst/>
          </a:prstGeom>
          <a:solidFill>
            <a:srgbClr val="1A2D40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2920" y="33375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C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◆  시연 환경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02920" y="3611880"/>
            <a:ext cx="3840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폼보드 교차로 (4-way)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4방향 LED 신호등 + 라즈베리파이 5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노트북: SUMO + DQN 추론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전시용 안내 화면 (RL 결정 시각화)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663440" y="3246120"/>
            <a:ext cx="4160520" cy="1463040"/>
          </a:xfrm>
          <a:prstGeom prst="rect">
            <a:avLst/>
          </a:prstGeom>
          <a:solidFill>
            <a:srgbClr val="1A2D40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46320" y="33375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C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◆  Fixed vs RL 라이브 비교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4846320" y="3611880"/>
            <a:ext cx="3840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동일 차량 흐름으로 두 모드 시연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Avg Wait 실시간 표시 (3906s vs 45s)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Queue 길이 누적 그래프 동시 표시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차량 모형으로 시각적 임팩트 강화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320040" y="475488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1A2D40"/>
          </a:solidFill>
          <a:ln w="12700">
            <a:solidFill>
              <a:srgbClr val="1A2D40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ICT 종합설계 9차 발표</dc:title>
  <dc:subject>PptxGenJS Presentation</dc:subject>
  <dc:creator>전형주, 이진욱</dc:creator>
  <cp:lastModifiedBy>전형주, 이진욱</cp:lastModifiedBy>
  <cp:revision>1</cp:revision>
  <dcterms:created xsi:type="dcterms:W3CDTF">2026-05-20T11:07:25Z</dcterms:created>
  <dcterms:modified xsi:type="dcterms:W3CDTF">2026-05-20T11:07:25Z</dcterms:modified>
</cp:coreProperties>
</file>